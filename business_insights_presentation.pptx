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Libre Baskerville"/>
      <p:regular r:id="rId17"/>
    </p:embeddedFont>
    <p:embeddedFont>
      <p:font typeface="Libre Baskerville Bold"/>
      <p:regular r:id="rId18"/>
    </p:embeddedFont>
    <p:embeddedFont>
      <p:font typeface="DM Sans"/>
      <p:regular r:id="rId19"/>
    </p:embeddedFont>
    <p:embeddedFont>
      <p:font typeface="DM Sans Bold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11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8220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78077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3,900 transactions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across product categories — spending patterns, customer segments, and subscription behavior to guide strategic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7669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195015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1603697" y="183996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Transactions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146474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Across all product categories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60553" y="1195015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5768206" y="183996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Columns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60553" y="2146474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Demographics, purchases &amp; behavior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6119" y="2727647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1603697" y="337259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6119" y="3679106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Review Rating column only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0553" y="2727647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$59.76</a:t>
            </a:r>
            <a:endParaRPr lang="en-US" sz="3650" dirty="0"/>
          </a:p>
        </p:txBody>
      </p:sp>
      <p:sp>
        <p:nvSpPr>
          <p:cNvPr id="13" name="Text 11"/>
          <p:cNvSpPr/>
          <p:nvPr/>
        </p:nvSpPr>
        <p:spPr>
          <a:xfrm>
            <a:off x="5768206" y="337259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Avg Purchase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60553" y="3679106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Mean transaction value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119" y="4065389"/>
            <a:ext cx="8151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features include customer demographics (Age, Gender, Location, Subscription Status), purchase details (Item, Category, Amount, Season, Size, Color), and shopping behavior (Discount Applied, Previous Purchases, Frequency, Review Rating, Shipping Type).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0334"/>
            <a:ext cx="542887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in Python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85392"/>
            <a:ext cx="2628230" cy="262823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28120" y="1600274"/>
            <a:ext cx="212601" cy="2126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935685" y="1595884"/>
            <a:ext cx="18593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Clean &amp; Standardize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3935685" y="1959099"/>
            <a:ext cx="2039466" cy="1370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Loaded via pandas, checked structure with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renamed columns to snake_case, imputed missing Review Ratings using median by category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05463" y="1600274"/>
            <a:ext cx="212601" cy="21260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613029" y="1595884"/>
            <a:ext cx="184651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6613029" y="1959099"/>
            <a:ext cx="2039541" cy="921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bins and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; dropped redundant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28120" y="3617416"/>
            <a:ext cx="212601" cy="21260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935685" y="3613026"/>
            <a:ext cx="188304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3935685" y="3976241"/>
            <a:ext cx="471688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Loaded cleaned DataFrame into PostgreSQL for SQL analysis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403979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Finding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 customers generated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more than double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 revenue of female customers —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$157,890 vs $75,191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This disparity should inform targeting and product strategy.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427806"/>
            <a:ext cx="6455792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Products &amp; Discount Insights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88379" y="1207294"/>
            <a:ext cx="2698552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5 Products by Rating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88379" y="1579811"/>
            <a:ext cx="3913436" cy="2383929"/>
          </a:xfrm>
          <a:prstGeom prst="roundRect">
            <a:avLst>
              <a:gd name="adj" fmla="val 245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3142" y="1584573"/>
            <a:ext cx="3903911" cy="3957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32668" y="1671712"/>
            <a:ext cx="21277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87005" y="1671712"/>
            <a:ext cx="21277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 Rating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93142" y="1980307"/>
            <a:ext cx="3903911" cy="39573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32668" y="2067446"/>
            <a:ext cx="21277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Gloves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87005" y="2067446"/>
            <a:ext cx="21277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3.86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93142" y="2376041"/>
            <a:ext cx="3903911" cy="3957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32668" y="2463180"/>
            <a:ext cx="21277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Sandals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87005" y="2463180"/>
            <a:ext cx="21277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3.84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3142" y="2771775"/>
            <a:ext cx="3903911" cy="39573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32668" y="2858914"/>
            <a:ext cx="21277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Boots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587005" y="2858914"/>
            <a:ext cx="21277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3.82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93142" y="3167509"/>
            <a:ext cx="3903911" cy="3957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32668" y="3254648"/>
            <a:ext cx="21277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587005" y="3254648"/>
            <a:ext cx="21277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3.80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3142" y="3563243"/>
            <a:ext cx="3903911" cy="39573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32668" y="3650382"/>
            <a:ext cx="21277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Skirt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87005" y="3650382"/>
            <a:ext cx="21277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3.78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46947" y="1207294"/>
            <a:ext cx="366779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Most Discount-Dependent Products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746947" y="1579811"/>
            <a:ext cx="3913436" cy="2383929"/>
          </a:xfrm>
          <a:prstGeom prst="roundRect">
            <a:avLst>
              <a:gd name="adj" fmla="val 245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1710" y="1584573"/>
            <a:ext cx="3903911" cy="3957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91236" y="1671712"/>
            <a:ext cx="21277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845573" y="1671712"/>
            <a:ext cx="21277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Discount Rate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1710" y="1980307"/>
            <a:ext cx="3903911" cy="39573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891236" y="2067446"/>
            <a:ext cx="21277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845573" y="2067446"/>
            <a:ext cx="21277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50.00%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1710" y="2376041"/>
            <a:ext cx="3903911" cy="3957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891236" y="2463180"/>
            <a:ext cx="21277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Sneakers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845573" y="2463180"/>
            <a:ext cx="21277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49.66%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1710" y="2771775"/>
            <a:ext cx="3903911" cy="39573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891236" y="2858914"/>
            <a:ext cx="21277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Coat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845573" y="2858914"/>
            <a:ext cx="21277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49.07%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51710" y="3167509"/>
            <a:ext cx="3903911" cy="3957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891236" y="3254648"/>
            <a:ext cx="21277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Sweater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845573" y="3254648"/>
            <a:ext cx="21277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48.17%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51710" y="3563243"/>
            <a:ext cx="3903911" cy="39573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891236" y="3650382"/>
            <a:ext cx="21277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Pants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845573" y="3650382"/>
            <a:ext cx="21277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47.37%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8379" y="4272707"/>
            <a:ext cx="816724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839 high-spending customers used discounts yet exceeded average purchase amounts. Hats lead discount dependency at 50% — review policy to balance sales lift with margin control.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69268"/>
            <a:ext cx="650758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&amp; Shipping Analysis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895773"/>
            <a:ext cx="4004965" cy="854943"/>
          </a:xfrm>
          <a:prstGeom prst="roundRect">
            <a:avLst>
              <a:gd name="adj" fmla="val 6964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6927" y="205658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Subscribers (27%)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56927" y="2363093"/>
            <a:ext cx="36833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1,053 customers · Avg spend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$59.49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Revenue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$62,645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42842" y="1895773"/>
            <a:ext cx="4005039" cy="854943"/>
          </a:xfrm>
          <a:prstGeom prst="roundRect">
            <a:avLst>
              <a:gd name="adj" fmla="val 6964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3651" y="2056581"/>
            <a:ext cx="201051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Non-Subscribers (73%)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803651" y="2363093"/>
            <a:ext cx="36834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2,847 customers · Avg spend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$59.87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Revenue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$170,436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6119" y="2892475"/>
            <a:ext cx="4004965" cy="1081757"/>
          </a:xfrm>
          <a:prstGeom prst="roundRect">
            <a:avLst>
              <a:gd name="adj" fmla="val 5504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927" y="305328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Express Shipping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56927" y="3359795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 purchase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$60.48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vs Standard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$58.46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slight premium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42842" y="2892475"/>
            <a:ext cx="4005039" cy="1081757"/>
          </a:xfrm>
          <a:prstGeom prst="roundRect">
            <a:avLst>
              <a:gd name="adj" fmla="val 5504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3651" y="305328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Repeat Buyers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03651" y="3359795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958 subscribers vs 2,518 non-subscribers among customers with &gt;5 purchases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488245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33578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Segment Breakdown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classified as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New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Returning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and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Loyal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based on purchase history.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421508"/>
            <a:ext cx="3902943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Loyal — 3,116 customers: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 dominant segment, representing the vast majority of the customer base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Returning — 701 customers: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 mid-tier segment with growth potential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New — 83 customers: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 smallest segment, representing an opportunity for acquisition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755540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Age Group &amp; Top Products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8166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Products by Category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Accessories: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Jewelry (171), Sunglasses (161), Belt (161)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Clothing: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Blouse (171), Pants (171), Shirt (169)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Footwear: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Sandals (160), Shoes (150), Sneakers (145)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Outerwear: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Jacket (163), Coat (161)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3023815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Young Adults lead revenue at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$62,143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Revenue is relatively evenly distributed across age groups, with a gradual decline from Young Adult to Senior.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8379" y="423714"/>
            <a:ext cx="4112196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Power BI Dashboard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488379" y="1065833"/>
            <a:ext cx="4738241" cy="810444"/>
          </a:xfrm>
          <a:prstGeom prst="roundRect">
            <a:avLst>
              <a:gd name="adj" fmla="val 7232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2668" y="1210121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Metrics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32668" y="1510531"/>
            <a:ext cx="44496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3.9K customers · $59.76 avg purchase · 3.75 avg rating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88379" y="2013645"/>
            <a:ext cx="4738241" cy="810444"/>
          </a:xfrm>
          <a:prstGeom prst="roundRect">
            <a:avLst>
              <a:gd name="adj" fmla="val 7232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2668" y="2157933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Split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32668" y="2458343"/>
            <a:ext cx="44496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Donut chart: 27% subscribers vs 73% non-subscribers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88379" y="2961456"/>
            <a:ext cx="4738241" cy="810444"/>
          </a:xfrm>
          <a:prstGeom prst="roundRect">
            <a:avLst>
              <a:gd name="adj" fmla="val 7232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2668" y="3105745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Category Revenue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32668" y="3406155"/>
            <a:ext cx="44496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Bar charts for Clothing, Accessories, Footwear &amp; Outerwear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88379" y="3909268"/>
            <a:ext cx="4738241" cy="810444"/>
          </a:xfrm>
          <a:prstGeom prst="roundRect">
            <a:avLst>
              <a:gd name="adj" fmla="val 7232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2668" y="4053557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Age Group Views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32668" y="4353967"/>
            <a:ext cx="44496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Horizontal bars showing revenue &amp; sales by age segment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5022"/>
            <a:ext cx="555329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Recommendations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501527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033067"/>
            <a:ext cx="18005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339578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 to convert non-subscribers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501527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0330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2339578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grow the Loyal segment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1501527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033067"/>
            <a:ext cx="21267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2339578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 sales boosts with margin control on discount-heavy products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076724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6119" y="3608263"/>
            <a:ext cx="17870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96119" y="3914775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age groups and express-shipping users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72433" y="3076724"/>
            <a:ext cx="354360" cy="3543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272433" y="3608263"/>
            <a:ext cx="17976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272433" y="3914775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and best-selling products in campaigns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2026-06-07T14:31:39Z</dcterms:created>
  <dcterms:modified xsi:type="dcterms:W3CDTF">2026-06-07T14:31:39Z</dcterms:modified>
</cp:coreProperties>
</file>